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73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28749" y="2667000"/>
            <a:ext cx="7239000" cy="542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620249" y="2667000"/>
            <a:ext cx="7239000" cy="542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7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800" y="934846"/>
            <a:ext cx="13825219" cy="688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-20" dirty="0">
                <a:solidFill>
                  <a:srgbClr val="C8D9EB"/>
                </a:solidFill>
              </a:rPr>
              <a:t>PHYSICS</a:t>
            </a:r>
            <a:r>
              <a:rPr spc="-75" dirty="0">
                <a:solidFill>
                  <a:srgbClr val="C8D9EB"/>
                </a:solidFill>
              </a:rPr>
              <a:t> </a:t>
            </a:r>
            <a:r>
              <a:rPr dirty="0">
                <a:solidFill>
                  <a:srgbClr val="C8D9EB"/>
                </a:solidFill>
              </a:rPr>
              <a:t>WALLAH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84626" y="9680877"/>
            <a:ext cx="534670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6F8B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90" dirty="0"/>
              <a:t>‹#›</a:t>
            </a:fld>
            <a:r>
              <a:rPr spc="-65" dirty="0"/>
              <a:t> </a:t>
            </a:r>
            <a:r>
              <a:rPr spc="-195" dirty="0"/>
              <a:t>/</a:t>
            </a:r>
            <a:r>
              <a:rPr spc="-60" dirty="0"/>
              <a:t> </a:t>
            </a:r>
            <a:r>
              <a:rPr spc="-40" dirty="0"/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71A33">
              <a:alpha val="57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1190625"/>
            <a:ext cx="76200" cy="6477000"/>
          </a:xfrm>
          <a:custGeom>
            <a:avLst/>
            <a:gdLst/>
            <a:ahLst/>
            <a:cxnLst/>
            <a:rect l="l" t="t" r="r" b="b"/>
            <a:pathLst>
              <a:path w="76200" h="6477000">
                <a:moveTo>
                  <a:pt x="76199" y="6476999"/>
                </a:moveTo>
                <a:lnTo>
                  <a:pt x="0" y="6476999"/>
                </a:lnTo>
                <a:lnTo>
                  <a:pt x="0" y="0"/>
                </a:lnTo>
                <a:lnTo>
                  <a:pt x="76199" y="0"/>
                </a:lnTo>
                <a:lnTo>
                  <a:pt x="76199" y="6476999"/>
                </a:lnTo>
                <a:close/>
              </a:path>
            </a:pathLst>
          </a:custGeom>
          <a:solidFill>
            <a:srgbClr val="38B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5953124"/>
            <a:ext cx="1428750" cy="38100"/>
          </a:xfrm>
          <a:custGeom>
            <a:avLst/>
            <a:gdLst/>
            <a:ahLst/>
            <a:cxnLst/>
            <a:rect l="l" t="t" r="r" b="b"/>
            <a:pathLst>
              <a:path w="1428750" h="38100">
                <a:moveTo>
                  <a:pt x="1428749" y="38099"/>
                </a:moveTo>
                <a:lnTo>
                  <a:pt x="0" y="38099"/>
                </a:lnTo>
                <a:lnTo>
                  <a:pt x="0" y="0"/>
                </a:lnTo>
                <a:lnTo>
                  <a:pt x="1428749" y="0"/>
                </a:lnTo>
                <a:lnTo>
                  <a:pt x="1428749" y="38099"/>
                </a:lnTo>
                <a:close/>
              </a:path>
            </a:pathLst>
          </a:custGeom>
          <a:solidFill>
            <a:srgbClr val="38B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6844" y="361950"/>
            <a:ext cx="3838574" cy="119062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25549" y="2023103"/>
            <a:ext cx="12646025" cy="2215991"/>
          </a:xfrm>
          <a:prstGeom prst="rect">
            <a:avLst/>
          </a:prstGeom>
        </p:spPr>
        <p:txBody>
          <a:bodyPr vert="horz" wrap="square" lIns="0" tIns="411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6350" spc="-385" dirty="0"/>
              <a:t>IILM</a:t>
            </a:r>
            <a:r>
              <a:rPr sz="6350" spc="-45" dirty="0"/>
              <a:t> </a:t>
            </a:r>
            <a:r>
              <a:rPr sz="6350" spc="75" dirty="0"/>
              <a:t>University,</a:t>
            </a:r>
            <a:r>
              <a:rPr sz="6350" spc="-45" dirty="0"/>
              <a:t> </a:t>
            </a:r>
            <a:r>
              <a:rPr sz="6350" spc="100" dirty="0"/>
              <a:t>Greater</a:t>
            </a:r>
            <a:r>
              <a:rPr sz="6350" spc="-45" dirty="0"/>
              <a:t> </a:t>
            </a:r>
            <a:r>
              <a:rPr sz="6350" spc="155" dirty="0"/>
              <a:t>Noida</a:t>
            </a:r>
            <a:endParaRPr sz="6350" dirty="0"/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lang="en-US" dirty="0"/>
              <a:t>MANAGING DATABASE RECORDS</a:t>
            </a:r>
            <a:endParaRPr sz="2300" dirty="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b="1" dirty="0"/>
              <a:t>ACAPELLA PRODUCTIONS </a:t>
            </a:r>
            <a:r>
              <a:rPr spc="-315" dirty="0">
                <a:solidFill>
                  <a:srgbClr val="C8D9EB"/>
                </a:solidFill>
              </a:rPr>
              <a:t>•</a:t>
            </a:r>
            <a:r>
              <a:rPr spc="225" dirty="0">
                <a:solidFill>
                  <a:srgbClr val="C8D9EB"/>
                </a:solidFill>
              </a:rPr>
              <a:t> </a:t>
            </a:r>
            <a:r>
              <a:rPr spc="-40" dirty="0">
                <a:solidFill>
                  <a:srgbClr val="C8D9EB"/>
                </a:solidFill>
              </a:rPr>
              <a:t>TECHNICAL</a:t>
            </a:r>
            <a:r>
              <a:rPr spc="-70" dirty="0">
                <a:solidFill>
                  <a:srgbClr val="C8D9EB"/>
                </a:solidFill>
              </a:rPr>
              <a:t> </a:t>
            </a:r>
            <a:r>
              <a:rPr spc="-10" dirty="0">
                <a:solidFill>
                  <a:srgbClr val="C8D9EB"/>
                </a:solidFill>
              </a:rPr>
              <a:t>INTERNSHIP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6049" y="6346951"/>
            <a:ext cx="2626995" cy="16927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lang="en-IN" sz="2800" spc="-45" dirty="0">
                <a:solidFill>
                  <a:srgbClr val="C8D9EB"/>
                </a:solidFill>
                <a:latin typeface="Lucida Sans Unicode"/>
                <a:cs typeface="Lucida Sans Unicode"/>
              </a:rPr>
              <a:t>YASHI JAISWAL</a:t>
            </a: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650" spc="-45" dirty="0">
                <a:solidFill>
                  <a:srgbClr val="C8D9EB"/>
                </a:solidFill>
                <a:latin typeface="Lucida Sans Unicode"/>
                <a:cs typeface="Lucida Sans Unicode"/>
              </a:rPr>
              <a:t>Roll</a:t>
            </a:r>
            <a:r>
              <a:rPr sz="1650" spc="-95" dirty="0">
                <a:solidFill>
                  <a:srgbClr val="C8D9EB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C8D9EB"/>
                </a:solidFill>
                <a:latin typeface="Lucida Sans Unicode"/>
                <a:cs typeface="Lucida Sans Unicode"/>
              </a:rPr>
              <a:t>No.</a:t>
            </a:r>
            <a:r>
              <a:rPr sz="1650" spc="-90" dirty="0">
                <a:solidFill>
                  <a:srgbClr val="C8D9EB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C8D9EB"/>
                </a:solidFill>
                <a:latin typeface="Lucida Sans Unicode"/>
                <a:cs typeface="Lucida Sans Unicode"/>
              </a:rPr>
              <a:t>2</a:t>
            </a:r>
            <a:r>
              <a:rPr lang="en-IN" sz="1650" spc="-10" dirty="0">
                <a:solidFill>
                  <a:srgbClr val="C8D9EB"/>
                </a:solidFill>
                <a:latin typeface="Lucida Sans Unicode"/>
                <a:cs typeface="Lucida Sans Unicode"/>
              </a:rPr>
              <a:t>5SCS1003004069</a:t>
            </a:r>
            <a:endParaRPr sz="16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750" spc="-20" dirty="0">
                <a:solidFill>
                  <a:srgbClr val="C8D9EB"/>
                </a:solidFill>
                <a:latin typeface="Lucida Sans Unicode"/>
                <a:cs typeface="Lucida Sans Unicode"/>
              </a:rPr>
              <a:t>B,tech</a:t>
            </a:r>
            <a:r>
              <a:rPr sz="1750" spc="-100" dirty="0">
                <a:solidFill>
                  <a:srgbClr val="C8D9EB"/>
                </a:solidFill>
                <a:latin typeface="Lucida Sans Unicode"/>
                <a:cs typeface="Lucida Sans Unicode"/>
              </a:rPr>
              <a:t> </a:t>
            </a:r>
            <a:r>
              <a:rPr sz="1750" spc="-35" dirty="0">
                <a:solidFill>
                  <a:srgbClr val="C8D9EB"/>
                </a:solidFill>
                <a:latin typeface="Lucida Sans Unicode"/>
                <a:cs typeface="Lucida Sans Unicode"/>
              </a:rPr>
              <a:t>CSE</a:t>
            </a:r>
            <a:r>
              <a:rPr sz="1750" spc="-95" dirty="0">
                <a:solidFill>
                  <a:srgbClr val="C8D9EB"/>
                </a:solidFill>
                <a:latin typeface="Lucida Sans Unicode"/>
                <a:cs typeface="Lucida Sans Unicode"/>
              </a:rPr>
              <a:t> </a:t>
            </a:r>
            <a:r>
              <a:rPr sz="1750" spc="-30" dirty="0">
                <a:solidFill>
                  <a:srgbClr val="C8D9EB"/>
                </a:solidFill>
                <a:latin typeface="Lucida Sans Unicode"/>
                <a:cs typeface="Lucida Sans Unicode"/>
              </a:rPr>
              <a:t>(</a:t>
            </a:r>
            <a:r>
              <a:rPr lang="en-IN" sz="1750" spc="-30" dirty="0">
                <a:solidFill>
                  <a:srgbClr val="C8D9EB"/>
                </a:solidFill>
                <a:latin typeface="Lucida Sans Unicode"/>
                <a:cs typeface="Lucida Sans Unicode"/>
              </a:rPr>
              <a:t>AIML)</a:t>
            </a:r>
            <a:endParaRPr sz="17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IN" sz="1650" spc="-35" dirty="0">
                <a:solidFill>
                  <a:srgbClr val="C8D9EB"/>
                </a:solidFill>
                <a:latin typeface="Lucida Sans Unicode"/>
                <a:cs typeface="Lucida Sans Unicode"/>
              </a:rPr>
              <a:t>Acapella Productions</a:t>
            </a:r>
            <a:endParaRPr sz="1650" dirty="0">
              <a:latin typeface="Lucida Sans Unicode"/>
              <a:cs typeface="Lucida Sans Unicod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59C4BD-EE58-3C12-FDDF-F42FE8C19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3456" y="1819027"/>
            <a:ext cx="5061962" cy="5905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60705"/>
            <a:ext cx="20993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769DF"/>
                </a:solidFill>
                <a:latin typeface="Arial Black"/>
                <a:cs typeface="Arial Black"/>
              </a:rPr>
              <a:t>INTERNSHIP</a:t>
            </a:r>
            <a:r>
              <a:rPr sz="1350" spc="375" dirty="0">
                <a:solidFill>
                  <a:srgbClr val="1769DF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1769DF"/>
                </a:solidFill>
                <a:latin typeface="Arial Black"/>
                <a:cs typeface="Arial Black"/>
              </a:rPr>
              <a:t>REPORT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80881" y="792522"/>
            <a:ext cx="13825219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Acapella Productions</a:t>
            </a:r>
            <a:br>
              <a:rPr lang="en-IN" sz="3200" dirty="0">
                <a:solidFill>
                  <a:schemeClr val="tx1"/>
                </a:solidFill>
              </a:rPr>
            </a:br>
            <a:r>
              <a:rPr lang="en-IN" sz="3200" dirty="0">
                <a:solidFill>
                  <a:schemeClr val="tx1"/>
                </a:solidFill>
              </a:rPr>
              <a:t>A professional internship experience in database management</a:t>
            </a:r>
            <a:br>
              <a:rPr lang="en-IN" dirty="0"/>
            </a:br>
            <a:endParaRPr spc="190" dirty="0">
              <a:solidFill>
                <a:srgbClr val="0F243D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1752600"/>
            <a:ext cx="723900" cy="47625"/>
          </a:xfrm>
          <a:custGeom>
            <a:avLst/>
            <a:gdLst/>
            <a:ahLst/>
            <a:cxnLst/>
            <a:rect l="l" t="t" r="r" b="b"/>
            <a:pathLst>
              <a:path w="723900" h="47625">
                <a:moveTo>
                  <a:pt x="723862" y="47624"/>
                </a:moveTo>
                <a:lnTo>
                  <a:pt x="0" y="47624"/>
                </a:lnTo>
                <a:lnTo>
                  <a:pt x="0" y="0"/>
                </a:lnTo>
                <a:lnTo>
                  <a:pt x="723862" y="0"/>
                </a:lnTo>
                <a:lnTo>
                  <a:pt x="723862" y="47624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25" dirty="0"/>
              <a:t> </a:t>
            </a:r>
            <a:r>
              <a:rPr lang="en-IN" dirty="0">
                <a:solidFill>
                  <a:schemeClr val="tx1"/>
                </a:solidFill>
              </a:rPr>
              <a:t>Acapella Productions 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EF4A2-7D8E-A54A-86CE-4823235CA130}"/>
              </a:ext>
            </a:extLst>
          </p:cNvPr>
          <p:cNvSpPr txBox="1"/>
          <p:nvPr/>
        </p:nvSpPr>
        <p:spPr>
          <a:xfrm>
            <a:off x="685800" y="2760302"/>
            <a:ext cx="1577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Organization</a:t>
            </a:r>
            <a:br>
              <a:rPr lang="en-IN" sz="3200" dirty="0"/>
            </a:br>
            <a:r>
              <a:rPr lang="en-IN" sz="3200" dirty="0"/>
              <a:t>Acapella Productions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Internship Area</a:t>
            </a:r>
            <a:br>
              <a:rPr lang="en-IN" sz="3200" dirty="0"/>
            </a:br>
            <a:r>
              <a:rPr lang="en-IN" sz="3200" dirty="0"/>
              <a:t>Database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Internship Period</a:t>
            </a:r>
            <a:br>
              <a:rPr lang="en-IN" sz="3200" dirty="0"/>
            </a:br>
            <a:r>
              <a:rPr lang="en-IN" sz="3200" dirty="0"/>
              <a:t>May 05, 2026 – August 06, 2026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Role</a:t>
            </a:r>
            <a:br>
              <a:rPr lang="en-IN" sz="3200" dirty="0"/>
            </a:br>
            <a:r>
              <a:rPr lang="en-IN" sz="3200" dirty="0"/>
              <a:t>Database Management Intern</a:t>
            </a:r>
          </a:p>
          <a:p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60705"/>
            <a:ext cx="20993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769DF"/>
                </a:solidFill>
                <a:latin typeface="Arial Black"/>
                <a:cs typeface="Arial Black"/>
              </a:rPr>
              <a:t>INTERNSHIP</a:t>
            </a:r>
            <a:r>
              <a:rPr sz="1350" spc="375" dirty="0">
                <a:solidFill>
                  <a:srgbClr val="1769DF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1769DF"/>
                </a:solidFill>
                <a:latin typeface="Arial Black"/>
                <a:cs typeface="Arial Black"/>
              </a:rPr>
              <a:t>REPORT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F243D"/>
                </a:solidFill>
              </a:rPr>
              <a:t>Internship</a:t>
            </a:r>
            <a:r>
              <a:rPr spc="90" dirty="0">
                <a:solidFill>
                  <a:srgbClr val="0F243D"/>
                </a:solidFill>
              </a:rPr>
              <a:t> </a:t>
            </a:r>
            <a:r>
              <a:rPr spc="75" dirty="0">
                <a:solidFill>
                  <a:srgbClr val="0F243D"/>
                </a:solidFill>
              </a:rPr>
              <a:t>at</a:t>
            </a:r>
            <a:r>
              <a:rPr spc="90" dirty="0">
                <a:solidFill>
                  <a:srgbClr val="0F243D"/>
                </a:solidFill>
              </a:rPr>
              <a:t> </a:t>
            </a:r>
            <a:r>
              <a:rPr spc="75" dirty="0">
                <a:solidFill>
                  <a:srgbClr val="0F243D"/>
                </a:solidFill>
              </a:rPr>
              <a:t>a</a:t>
            </a:r>
            <a:r>
              <a:rPr spc="90" dirty="0">
                <a:solidFill>
                  <a:srgbClr val="0F243D"/>
                </a:solidFill>
              </a:rPr>
              <a:t> </a:t>
            </a:r>
            <a:r>
              <a:rPr spc="150" dirty="0">
                <a:solidFill>
                  <a:srgbClr val="0F243D"/>
                </a:solidFill>
              </a:rPr>
              <a:t>glance</a:t>
            </a:r>
          </a:p>
        </p:txBody>
      </p:sp>
      <p:sp>
        <p:nvSpPr>
          <p:cNvPr id="4" name="object 4"/>
          <p:cNvSpPr/>
          <p:nvPr/>
        </p:nvSpPr>
        <p:spPr>
          <a:xfrm>
            <a:off x="952500" y="1752600"/>
            <a:ext cx="723900" cy="47625"/>
          </a:xfrm>
          <a:custGeom>
            <a:avLst/>
            <a:gdLst/>
            <a:ahLst/>
            <a:cxnLst/>
            <a:rect l="l" t="t" r="r" b="b"/>
            <a:pathLst>
              <a:path w="723900" h="47625">
                <a:moveTo>
                  <a:pt x="723862" y="47624"/>
                </a:moveTo>
                <a:lnTo>
                  <a:pt x="0" y="47624"/>
                </a:lnTo>
                <a:lnTo>
                  <a:pt x="0" y="0"/>
                </a:lnTo>
                <a:lnTo>
                  <a:pt x="723862" y="0"/>
                </a:lnTo>
                <a:lnTo>
                  <a:pt x="723862" y="47624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2500" y="2667000"/>
            <a:ext cx="5143500" cy="2238375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41211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sz="2850" b="1" dirty="0">
                <a:solidFill>
                  <a:srgbClr val="0F243D"/>
                </a:solidFill>
                <a:latin typeface="Tahoma"/>
                <a:cs typeface="Tahoma"/>
              </a:rPr>
              <a:t>03</a:t>
            </a:r>
            <a:r>
              <a:rPr sz="2850" b="1" spc="-50" dirty="0">
                <a:solidFill>
                  <a:srgbClr val="0F243D"/>
                </a:solidFill>
                <a:latin typeface="Tahoma"/>
                <a:cs typeface="Tahoma"/>
              </a:rPr>
              <a:t> </a:t>
            </a:r>
            <a:r>
              <a:rPr sz="2850" b="1" spc="80" dirty="0">
                <a:solidFill>
                  <a:srgbClr val="0F243D"/>
                </a:solidFill>
                <a:latin typeface="Tahoma"/>
                <a:cs typeface="Tahoma"/>
              </a:rPr>
              <a:t>MONTHS</a:t>
            </a:r>
            <a:endParaRPr sz="2850"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  <a:spcBef>
                <a:spcPts val="2680"/>
              </a:spcBef>
            </a:pPr>
            <a:r>
              <a:rPr sz="1700" spc="-10" dirty="0">
                <a:solidFill>
                  <a:srgbClr val="586F8B"/>
                </a:solidFill>
                <a:latin typeface="Lucida Sans Unicode"/>
                <a:cs typeface="Lucida Sans Unicode"/>
              </a:rPr>
              <a:t>Duration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72250" y="2666999"/>
            <a:ext cx="5010150" cy="1124026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41211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lang="en-IN" sz="2800" b="1" dirty="0"/>
              <a:t>DATABASE MANAGEMENT</a:t>
            </a:r>
            <a:br>
              <a:rPr lang="en-IN" sz="3200" dirty="0"/>
            </a:br>
            <a:r>
              <a:rPr lang="en-IN" dirty="0"/>
              <a:t>Internship Domain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1999" y="2667000"/>
            <a:ext cx="5143500" cy="1531830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41211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lang="en-IN" sz="3200" b="1" dirty="0"/>
              <a:t>DATABASE RECORDS</a:t>
            </a:r>
            <a:endParaRPr sz="2850" b="1" dirty="0"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  <a:spcBef>
                <a:spcPts val="2680"/>
              </a:spcBef>
            </a:pPr>
            <a:r>
              <a:rPr lang="en-IN" sz="1600" dirty="0"/>
              <a:t>Primary Work Area</a:t>
            </a:r>
            <a:endParaRPr sz="17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500" y="5524500"/>
            <a:ext cx="5143500" cy="1595950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41211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lang="en-IN" sz="3200" b="1" dirty="0"/>
              <a:t>QUERY OPTIMIZATION</a:t>
            </a:r>
          </a:p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lang="en-IN" dirty="0"/>
              <a:t>Technical Focus</a:t>
            </a:r>
            <a:endParaRPr b="1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72250" y="5524500"/>
            <a:ext cx="5143500" cy="1093248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41211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3245"/>
              </a:spcBef>
            </a:pPr>
            <a:r>
              <a:rPr lang="en-IN" sz="2800" b="1" dirty="0"/>
              <a:t>DATA ORGANIZATION</a:t>
            </a:r>
            <a:br>
              <a:rPr lang="en-IN" sz="1600" dirty="0"/>
            </a:br>
            <a:r>
              <a:rPr lang="en-IN" sz="1600" dirty="0"/>
              <a:t>Core Responsibility</a:t>
            </a:r>
            <a:endParaRPr sz="1700" dirty="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172949" y="5505450"/>
            <a:ext cx="5181600" cy="2276475"/>
            <a:chOff x="12172949" y="5505450"/>
            <a:chExt cx="5181600" cy="2276475"/>
          </a:xfrm>
        </p:grpSpPr>
        <p:sp>
          <p:nvSpPr>
            <p:cNvPr id="11" name="object 11"/>
            <p:cNvSpPr/>
            <p:nvPr/>
          </p:nvSpPr>
          <p:spPr>
            <a:xfrm>
              <a:off x="12191999" y="5524499"/>
              <a:ext cx="5141595" cy="2238375"/>
            </a:xfrm>
            <a:custGeom>
              <a:avLst/>
              <a:gdLst/>
              <a:ahLst/>
              <a:cxnLst/>
              <a:rect l="l" t="t" r="r" b="b"/>
              <a:pathLst>
                <a:path w="5141594" h="2238375">
                  <a:moveTo>
                    <a:pt x="5141267" y="2238374"/>
                  </a:moveTo>
                  <a:lnTo>
                    <a:pt x="0" y="2238374"/>
                  </a:lnTo>
                  <a:lnTo>
                    <a:pt x="0" y="0"/>
                  </a:lnTo>
                  <a:lnTo>
                    <a:pt x="5141267" y="0"/>
                  </a:lnTo>
                  <a:lnTo>
                    <a:pt x="5141267" y="2238374"/>
                  </a:lnTo>
                  <a:close/>
                </a:path>
              </a:pathLst>
            </a:custGeom>
            <a:solidFill>
              <a:srgbClr val="176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91999" y="5524499"/>
              <a:ext cx="5143500" cy="2238375"/>
            </a:xfrm>
            <a:custGeom>
              <a:avLst/>
              <a:gdLst/>
              <a:ahLst/>
              <a:cxnLst/>
              <a:rect l="l" t="t" r="r" b="b"/>
              <a:pathLst>
                <a:path w="5143500" h="2238375">
                  <a:moveTo>
                    <a:pt x="0" y="0"/>
                  </a:moveTo>
                  <a:lnTo>
                    <a:pt x="5143499" y="0"/>
                  </a:lnTo>
                  <a:lnTo>
                    <a:pt x="5143499" y="2238374"/>
                  </a:lnTo>
                  <a:lnTo>
                    <a:pt x="0" y="2238374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176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211049" y="5924041"/>
            <a:ext cx="51054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/>
              <a:t>ACAPELLA PRODUCTIONS</a:t>
            </a:r>
            <a:br>
              <a:rPr lang="en-IN" sz="1600" dirty="0"/>
            </a:br>
            <a:r>
              <a:rPr lang="en-IN" sz="1600" dirty="0"/>
              <a:t>Organization</a:t>
            </a:r>
            <a:endParaRPr sz="17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b="1" dirty="0"/>
              <a:t>ACAPELLA PRODUCTIONS 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10026" y="9680877"/>
            <a:ext cx="509270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40" dirty="0">
                <a:solidFill>
                  <a:srgbClr val="586F8B"/>
                </a:solidFill>
                <a:latin typeface="Lucida Sans Unicode"/>
                <a:cs typeface="Lucida Sans Unicode"/>
              </a:rPr>
              <a:t>8</a:t>
            </a:r>
            <a:endParaRPr sz="1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60705"/>
            <a:ext cx="20993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769DF"/>
                </a:solidFill>
                <a:latin typeface="Arial Black"/>
                <a:cs typeface="Arial Black"/>
              </a:rPr>
              <a:t>INTERNSHIP</a:t>
            </a:r>
            <a:r>
              <a:rPr sz="1350" spc="375" dirty="0">
                <a:solidFill>
                  <a:srgbClr val="1769DF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1769DF"/>
                </a:solidFill>
                <a:latin typeface="Arial Black"/>
                <a:cs typeface="Arial Black"/>
              </a:rPr>
              <a:t>REPORT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chemeClr val="tx1"/>
                </a:solidFill>
              </a:rPr>
              <a:t>Five objectives. One practical experience.</a:t>
            </a:r>
            <a:endParaRPr spc="13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1752600"/>
            <a:ext cx="723900" cy="47625"/>
          </a:xfrm>
          <a:custGeom>
            <a:avLst/>
            <a:gdLst/>
            <a:ahLst/>
            <a:cxnLst/>
            <a:rect l="l" t="t" r="r" b="b"/>
            <a:pathLst>
              <a:path w="723900" h="47625">
                <a:moveTo>
                  <a:pt x="723862" y="47624"/>
                </a:moveTo>
                <a:lnTo>
                  <a:pt x="0" y="47624"/>
                </a:lnTo>
                <a:lnTo>
                  <a:pt x="0" y="0"/>
                </a:lnTo>
                <a:lnTo>
                  <a:pt x="723862" y="0"/>
                </a:lnTo>
                <a:lnTo>
                  <a:pt x="723862" y="47624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77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2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1" y="485891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7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7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47875" y="3676650"/>
            <a:ext cx="1333500" cy="0"/>
          </a:xfrm>
          <a:custGeom>
            <a:avLst/>
            <a:gdLst/>
            <a:ahLst/>
            <a:cxnLst/>
            <a:rect l="l" t="t" r="r" b="b"/>
            <a:pathLst>
              <a:path w="1333500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28574">
            <a:solidFill>
              <a:srgbClr val="CBD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290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2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1" y="485891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7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7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29174" y="3676650"/>
            <a:ext cx="1333500" cy="0"/>
          </a:xfrm>
          <a:custGeom>
            <a:avLst/>
            <a:gdLst/>
            <a:ahLst/>
            <a:cxnLst/>
            <a:rect l="l" t="t" r="r" b="b"/>
            <a:pathLst>
              <a:path w="1333500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28574">
            <a:solidFill>
              <a:srgbClr val="CBD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03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2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1" y="485891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7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7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10475" y="3676650"/>
            <a:ext cx="1333500" cy="0"/>
          </a:xfrm>
          <a:custGeom>
            <a:avLst/>
            <a:gdLst/>
            <a:ahLst/>
            <a:cxnLst/>
            <a:rect l="l" t="t" r="r" b="b"/>
            <a:pathLst>
              <a:path w="1333500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28574">
            <a:solidFill>
              <a:srgbClr val="CBD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916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2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1" y="485891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7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7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071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391774" y="3676650"/>
            <a:ext cx="1333500" cy="0"/>
          </a:xfrm>
          <a:custGeom>
            <a:avLst/>
            <a:gdLst/>
            <a:ahLst/>
            <a:cxnLst/>
            <a:rect l="l" t="t" r="r" b="b"/>
            <a:pathLst>
              <a:path w="1333500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28574">
            <a:solidFill>
              <a:srgbClr val="CBD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1729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2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1" y="485891"/>
                </a:lnTo>
                <a:lnTo>
                  <a:pt x="0" y="438149"/>
                </a:lnTo>
                <a:lnTo>
                  <a:pt x="2571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2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8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8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071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73075" y="3676650"/>
            <a:ext cx="1333500" cy="0"/>
          </a:xfrm>
          <a:custGeom>
            <a:avLst/>
            <a:gdLst/>
            <a:ahLst/>
            <a:cxnLst/>
            <a:rect l="l" t="t" r="r" b="b"/>
            <a:pathLst>
              <a:path w="1333500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28574">
            <a:solidFill>
              <a:srgbClr val="CBD9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954250" y="3238500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38149" y="876299"/>
                </a:moveTo>
                <a:lnTo>
                  <a:pt x="390408" y="873728"/>
                </a:lnTo>
                <a:lnTo>
                  <a:pt x="344156" y="866194"/>
                </a:lnTo>
                <a:lnTo>
                  <a:pt x="299660" y="853962"/>
                </a:lnTo>
                <a:lnTo>
                  <a:pt x="257188" y="837302"/>
                </a:lnTo>
                <a:lnTo>
                  <a:pt x="217007" y="816479"/>
                </a:lnTo>
                <a:lnTo>
                  <a:pt x="179384" y="791762"/>
                </a:lnTo>
                <a:lnTo>
                  <a:pt x="144586" y="763417"/>
                </a:lnTo>
                <a:lnTo>
                  <a:pt x="112881" y="731713"/>
                </a:lnTo>
                <a:lnTo>
                  <a:pt x="84537" y="696915"/>
                </a:lnTo>
                <a:lnTo>
                  <a:pt x="59820" y="659292"/>
                </a:lnTo>
                <a:lnTo>
                  <a:pt x="38997" y="619111"/>
                </a:lnTo>
                <a:lnTo>
                  <a:pt x="22337" y="576639"/>
                </a:lnTo>
                <a:lnTo>
                  <a:pt x="10105" y="532143"/>
                </a:lnTo>
                <a:lnTo>
                  <a:pt x="2570" y="485891"/>
                </a:lnTo>
                <a:lnTo>
                  <a:pt x="0" y="438149"/>
                </a:lnTo>
                <a:lnTo>
                  <a:pt x="2570" y="390408"/>
                </a:lnTo>
                <a:lnTo>
                  <a:pt x="10105" y="344156"/>
                </a:lnTo>
                <a:lnTo>
                  <a:pt x="22337" y="299660"/>
                </a:lnTo>
                <a:lnTo>
                  <a:pt x="38997" y="257188"/>
                </a:lnTo>
                <a:lnTo>
                  <a:pt x="59820" y="217007"/>
                </a:lnTo>
                <a:lnTo>
                  <a:pt x="84537" y="179384"/>
                </a:lnTo>
                <a:lnTo>
                  <a:pt x="112881" y="144586"/>
                </a:lnTo>
                <a:lnTo>
                  <a:pt x="144586" y="112882"/>
                </a:lnTo>
                <a:lnTo>
                  <a:pt x="179384" y="84537"/>
                </a:lnTo>
                <a:lnTo>
                  <a:pt x="217007" y="59820"/>
                </a:lnTo>
                <a:lnTo>
                  <a:pt x="257188" y="38997"/>
                </a:lnTo>
                <a:lnTo>
                  <a:pt x="299660" y="22337"/>
                </a:lnTo>
                <a:lnTo>
                  <a:pt x="344156" y="10105"/>
                </a:lnTo>
                <a:lnTo>
                  <a:pt x="390408" y="2571"/>
                </a:lnTo>
                <a:lnTo>
                  <a:pt x="438149" y="0"/>
                </a:lnTo>
                <a:lnTo>
                  <a:pt x="485891" y="2571"/>
                </a:lnTo>
                <a:lnTo>
                  <a:pt x="532143" y="10105"/>
                </a:lnTo>
                <a:lnTo>
                  <a:pt x="576639" y="22337"/>
                </a:lnTo>
                <a:lnTo>
                  <a:pt x="619111" y="38997"/>
                </a:lnTo>
                <a:lnTo>
                  <a:pt x="659292" y="59820"/>
                </a:lnTo>
                <a:lnTo>
                  <a:pt x="696915" y="84537"/>
                </a:lnTo>
                <a:lnTo>
                  <a:pt x="731713" y="112882"/>
                </a:lnTo>
                <a:lnTo>
                  <a:pt x="763418" y="144586"/>
                </a:lnTo>
                <a:lnTo>
                  <a:pt x="791762" y="179384"/>
                </a:lnTo>
                <a:lnTo>
                  <a:pt x="816479" y="217007"/>
                </a:lnTo>
                <a:lnTo>
                  <a:pt x="837302" y="257188"/>
                </a:lnTo>
                <a:lnTo>
                  <a:pt x="853962" y="299660"/>
                </a:lnTo>
                <a:lnTo>
                  <a:pt x="866194" y="344156"/>
                </a:lnTo>
                <a:lnTo>
                  <a:pt x="873728" y="390408"/>
                </a:lnTo>
                <a:lnTo>
                  <a:pt x="876299" y="438149"/>
                </a:lnTo>
                <a:lnTo>
                  <a:pt x="873728" y="485891"/>
                </a:lnTo>
                <a:lnTo>
                  <a:pt x="866194" y="532143"/>
                </a:lnTo>
                <a:lnTo>
                  <a:pt x="853962" y="576639"/>
                </a:lnTo>
                <a:lnTo>
                  <a:pt x="837302" y="619111"/>
                </a:lnTo>
                <a:lnTo>
                  <a:pt x="816479" y="659292"/>
                </a:lnTo>
                <a:lnTo>
                  <a:pt x="791762" y="696915"/>
                </a:lnTo>
                <a:lnTo>
                  <a:pt x="763418" y="731713"/>
                </a:lnTo>
                <a:lnTo>
                  <a:pt x="731713" y="763417"/>
                </a:lnTo>
                <a:lnTo>
                  <a:pt x="696915" y="791762"/>
                </a:lnTo>
                <a:lnTo>
                  <a:pt x="659292" y="816479"/>
                </a:lnTo>
                <a:lnTo>
                  <a:pt x="619111" y="837302"/>
                </a:lnTo>
                <a:lnTo>
                  <a:pt x="576639" y="853962"/>
                </a:lnTo>
                <a:lnTo>
                  <a:pt x="532143" y="866194"/>
                </a:lnTo>
                <a:lnTo>
                  <a:pt x="485891" y="873728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071A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37022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01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b="1" dirty="0"/>
              <a:t>ACAPELLA PRODUCTIONS</a:t>
            </a:r>
            <a:r>
              <a:rPr spc="225" dirty="0"/>
              <a:t> 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7083" y="4582540"/>
            <a:ext cx="1697989" cy="9739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161290" algn="ctr">
              <a:lnSpc>
                <a:spcPct val="100000"/>
              </a:lnSpc>
              <a:spcBef>
                <a:spcPts val="395"/>
              </a:spcBef>
            </a:pPr>
            <a:r>
              <a:rPr lang="en-IN" sz="2000" b="1" dirty="0"/>
              <a:t>Understand     Database Management</a:t>
            </a:r>
            <a:endParaRPr sz="2000" b="1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8322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02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1625" y="4582540"/>
            <a:ext cx="1250950" cy="88165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8255">
              <a:lnSpc>
                <a:spcPct val="100000"/>
              </a:lnSpc>
              <a:spcBef>
                <a:spcPts val="395"/>
              </a:spcBef>
            </a:pPr>
            <a:r>
              <a:rPr lang="en-IN" b="1" dirty="0"/>
              <a:t>Manage Database Records</a:t>
            </a:r>
            <a:endParaRPr sz="1800" b="1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9622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03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11142" y="4582540"/>
            <a:ext cx="1675130" cy="6046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02870" marR="5080" indent="-90805">
              <a:lnSpc>
                <a:spcPct val="100000"/>
              </a:lnSpc>
              <a:spcBef>
                <a:spcPts val="395"/>
              </a:spcBef>
            </a:pPr>
            <a:r>
              <a:rPr lang="en-IN" b="1" dirty="0"/>
              <a:t>Improve Query Efficiency</a:t>
            </a:r>
            <a:endParaRPr sz="1800" b="1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80921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04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80524" y="4590922"/>
            <a:ext cx="1898650" cy="5392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09550" marR="5080" indent="-197485">
              <a:lnSpc>
                <a:spcPct val="100000"/>
              </a:lnSpc>
              <a:spcBef>
                <a:spcPts val="365"/>
              </a:spcBef>
            </a:pPr>
            <a:r>
              <a:rPr lang="en-IN" sz="1600" b="1" dirty="0"/>
              <a:t>Organize Data Effectively</a:t>
            </a:r>
            <a:endParaRPr sz="1650" b="1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62221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05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39053" y="4580826"/>
            <a:ext cx="1944370" cy="537968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51180" marR="5080" indent="-539115">
              <a:lnSpc>
                <a:spcPct val="100000"/>
              </a:lnSpc>
              <a:spcBef>
                <a:spcPts val="355"/>
              </a:spcBef>
            </a:pPr>
            <a:r>
              <a:rPr lang="en-IN" sz="1600" b="1" dirty="0"/>
              <a:t>Develop Problem-Solving Skills</a:t>
            </a:r>
            <a:endParaRPr sz="1550" b="1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243522" y="3442493"/>
            <a:ext cx="2978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06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29B088-AA5B-57C1-6575-B822FDC41694}"/>
              </a:ext>
            </a:extLst>
          </p:cNvPr>
          <p:cNvSpPr txBox="1"/>
          <p:nvPr/>
        </p:nvSpPr>
        <p:spPr>
          <a:xfrm>
            <a:off x="15235084" y="4454013"/>
            <a:ext cx="1898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Gain Professional Experience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3F37FD-BAA8-346D-57D1-711E8FB83EA2}"/>
              </a:ext>
            </a:extLst>
          </p:cNvPr>
          <p:cNvSpPr txBox="1"/>
          <p:nvPr/>
        </p:nvSpPr>
        <p:spPr>
          <a:xfrm>
            <a:off x="3505200" y="6819563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50000"/>
                  </a:schemeClr>
                </a:solidFill>
              </a:rPr>
              <a:t>UNDERSTAND → MANAGE → OPTIMIZE → ORGANIZE → SOLVE → APPLY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60705"/>
            <a:ext cx="20993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769DF"/>
                </a:solidFill>
                <a:latin typeface="Arial Black"/>
                <a:cs typeface="Arial Black"/>
              </a:rPr>
              <a:t>INTERNSHIP</a:t>
            </a:r>
            <a:r>
              <a:rPr sz="1350" spc="375" dirty="0">
                <a:solidFill>
                  <a:srgbClr val="1769DF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1769DF"/>
                </a:solidFill>
                <a:latin typeface="Arial Black"/>
                <a:cs typeface="Arial Black"/>
              </a:rPr>
              <a:t>REPORT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>
                <a:solidFill>
                  <a:srgbClr val="0F243D"/>
                </a:solidFill>
              </a:rPr>
              <a:t>Three</a:t>
            </a:r>
            <a:r>
              <a:rPr spc="5" dirty="0">
                <a:solidFill>
                  <a:srgbClr val="0F243D"/>
                </a:solidFill>
              </a:rPr>
              <a:t> </a:t>
            </a:r>
            <a:r>
              <a:rPr spc="85" dirty="0">
                <a:solidFill>
                  <a:srgbClr val="0F243D"/>
                </a:solidFill>
              </a:rPr>
              <a:t>months:</a:t>
            </a:r>
            <a:r>
              <a:rPr spc="10" dirty="0">
                <a:solidFill>
                  <a:srgbClr val="0F243D"/>
                </a:solidFill>
              </a:rPr>
              <a:t> </a:t>
            </a:r>
            <a:r>
              <a:rPr dirty="0">
                <a:solidFill>
                  <a:srgbClr val="0F243D"/>
                </a:solidFill>
              </a:rPr>
              <a:t>learn,</a:t>
            </a:r>
            <a:r>
              <a:rPr spc="10" dirty="0">
                <a:solidFill>
                  <a:srgbClr val="0F243D"/>
                </a:solidFill>
              </a:rPr>
              <a:t> </a:t>
            </a:r>
            <a:r>
              <a:rPr spc="70" dirty="0">
                <a:solidFill>
                  <a:srgbClr val="0F243D"/>
                </a:solidFill>
              </a:rPr>
              <a:t>build,</a:t>
            </a:r>
            <a:r>
              <a:rPr spc="10" dirty="0">
                <a:solidFill>
                  <a:srgbClr val="0F243D"/>
                </a:solidFill>
              </a:rPr>
              <a:t> </a:t>
            </a:r>
            <a:r>
              <a:rPr spc="70" dirty="0">
                <a:solidFill>
                  <a:srgbClr val="0F243D"/>
                </a:solidFill>
              </a:rPr>
              <a:t>refine</a:t>
            </a:r>
          </a:p>
        </p:txBody>
      </p:sp>
      <p:sp>
        <p:nvSpPr>
          <p:cNvPr id="4" name="object 4"/>
          <p:cNvSpPr/>
          <p:nvPr/>
        </p:nvSpPr>
        <p:spPr>
          <a:xfrm>
            <a:off x="952500" y="1752600"/>
            <a:ext cx="723900" cy="47625"/>
          </a:xfrm>
          <a:custGeom>
            <a:avLst/>
            <a:gdLst/>
            <a:ahLst/>
            <a:cxnLst/>
            <a:rect l="l" t="t" r="r" b="b"/>
            <a:pathLst>
              <a:path w="723900" h="47625">
                <a:moveTo>
                  <a:pt x="723862" y="47624"/>
                </a:moveTo>
                <a:lnTo>
                  <a:pt x="0" y="47624"/>
                </a:lnTo>
                <a:lnTo>
                  <a:pt x="0" y="0"/>
                </a:lnTo>
                <a:lnTo>
                  <a:pt x="723862" y="0"/>
                </a:lnTo>
                <a:lnTo>
                  <a:pt x="723862" y="47624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7750" y="2857500"/>
            <a:ext cx="5048250" cy="3246402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24574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935"/>
              </a:spcBef>
            </a:pPr>
            <a:r>
              <a:rPr sz="4800" b="1" spc="-535" dirty="0">
                <a:solidFill>
                  <a:srgbClr val="0F243D"/>
                </a:solidFill>
                <a:latin typeface="Tahoma"/>
                <a:cs typeface="Tahoma"/>
              </a:rPr>
              <a:t>01</a:t>
            </a:r>
            <a:endParaRPr sz="4800" dirty="0"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  <a:spcBef>
                <a:spcPts val="3105"/>
              </a:spcBef>
            </a:pPr>
            <a:r>
              <a:rPr sz="2250" spc="-10" dirty="0">
                <a:solidFill>
                  <a:srgbClr val="1769DF"/>
                </a:solidFill>
                <a:latin typeface="Arial Black"/>
                <a:cs typeface="Arial Black"/>
              </a:rPr>
              <a:t>LEARN</a:t>
            </a:r>
            <a:endParaRPr sz="225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lang="en-IN" sz="2400" dirty="0"/>
              <a:t>Database management concepts</a:t>
            </a:r>
            <a:br>
              <a:rPr lang="en-IN" sz="2400" dirty="0"/>
            </a:br>
            <a:r>
              <a:rPr lang="en-IN" sz="2400" dirty="0"/>
              <a:t>Data organization</a:t>
            </a:r>
            <a:br>
              <a:rPr lang="en-IN" sz="2400" dirty="0"/>
            </a:br>
            <a:r>
              <a:rPr lang="en-IN" sz="2400" dirty="0"/>
              <a:t>Record management</a:t>
            </a:r>
            <a:br>
              <a:rPr lang="en-IN" sz="2400" dirty="0"/>
            </a:br>
            <a:r>
              <a:rPr lang="en-IN" sz="2400" dirty="0"/>
              <a:t>Query handling</a:t>
            </a:r>
            <a:endParaRPr sz="2250" dirty="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48450" y="2838450"/>
            <a:ext cx="5086350" cy="4229100"/>
            <a:chOff x="6648450" y="2838450"/>
            <a:chExt cx="5086350" cy="4229100"/>
          </a:xfrm>
        </p:grpSpPr>
        <p:sp>
          <p:nvSpPr>
            <p:cNvPr id="7" name="object 7"/>
            <p:cNvSpPr/>
            <p:nvPr/>
          </p:nvSpPr>
          <p:spPr>
            <a:xfrm>
              <a:off x="6667499" y="2857499"/>
              <a:ext cx="5048250" cy="4191000"/>
            </a:xfrm>
            <a:custGeom>
              <a:avLst/>
              <a:gdLst/>
              <a:ahLst/>
              <a:cxnLst/>
              <a:rect l="l" t="t" r="r" b="b"/>
              <a:pathLst>
                <a:path w="5048250" h="4191000">
                  <a:moveTo>
                    <a:pt x="5048249" y="4190999"/>
                  </a:moveTo>
                  <a:lnTo>
                    <a:pt x="0" y="4190999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4190999"/>
                  </a:lnTo>
                  <a:close/>
                </a:path>
              </a:pathLst>
            </a:custGeom>
            <a:solidFill>
              <a:srgbClr val="176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7499" y="2857499"/>
              <a:ext cx="5048250" cy="4191000"/>
            </a:xfrm>
            <a:custGeom>
              <a:avLst/>
              <a:gdLst/>
              <a:ahLst/>
              <a:cxnLst/>
              <a:rect l="l" t="t" r="r" b="b"/>
              <a:pathLst>
                <a:path w="5048250" h="4191000">
                  <a:moveTo>
                    <a:pt x="0" y="0"/>
                  </a:moveTo>
                  <a:lnTo>
                    <a:pt x="5048249" y="0"/>
                  </a:lnTo>
                  <a:lnTo>
                    <a:pt x="5048249" y="4190999"/>
                  </a:lnTo>
                  <a:lnTo>
                    <a:pt x="0" y="41909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176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86550" y="3090926"/>
            <a:ext cx="5010150" cy="3011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>
              <a:lnSpc>
                <a:spcPct val="100000"/>
              </a:lnSpc>
              <a:spcBef>
                <a:spcPts val="100"/>
              </a:spcBef>
            </a:pPr>
            <a:r>
              <a:rPr sz="48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480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3100"/>
              </a:spcBef>
            </a:pPr>
            <a:r>
              <a:rPr lang="en-IN" sz="2250" spc="-10" dirty="0">
                <a:solidFill>
                  <a:srgbClr val="FFFFFF"/>
                </a:solidFill>
                <a:latin typeface="Arial Black"/>
                <a:cs typeface="Arial Black"/>
              </a:rPr>
              <a:t>ASSIST</a:t>
            </a:r>
            <a:endParaRPr sz="225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lang="en-IN" sz="2400" dirty="0"/>
              <a:t>Database record management</a:t>
            </a:r>
            <a:br>
              <a:rPr lang="en-IN" sz="2400" dirty="0"/>
            </a:br>
            <a:r>
              <a:rPr lang="en-IN" sz="2400" dirty="0"/>
              <a:t>Data organization</a:t>
            </a:r>
            <a:br>
              <a:rPr lang="en-IN" sz="2400" dirty="0"/>
            </a:br>
            <a:r>
              <a:rPr lang="en-IN" sz="2400" dirty="0"/>
              <a:t>Query-related tasks</a:t>
            </a:r>
            <a:br>
              <a:rPr lang="en-IN" sz="2400" dirty="0"/>
            </a:br>
            <a:r>
              <a:rPr lang="en-IN" sz="2400" dirty="0"/>
              <a:t>Day-to-day database activities</a:t>
            </a:r>
            <a:endParaRPr sz="2250" dirty="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spc="-20" dirty="0" err="1"/>
              <a:t>Apacella</a:t>
            </a:r>
            <a:r>
              <a:rPr lang="en-IN" spc="-20" dirty="0"/>
              <a:t> Productions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287249" y="2857500"/>
            <a:ext cx="5048250" cy="3092513"/>
          </a:xfrm>
          <a:prstGeom prst="rect">
            <a:avLst/>
          </a:prstGeom>
          <a:solidFill>
            <a:srgbClr val="FFFFFF"/>
          </a:solidFill>
          <a:ln w="38099">
            <a:solidFill>
              <a:srgbClr val="CBD9E7"/>
            </a:solidFill>
          </a:ln>
        </p:spPr>
        <p:txBody>
          <a:bodyPr vert="horz" wrap="square" lIns="0" tIns="24574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1935"/>
              </a:spcBef>
            </a:pPr>
            <a:r>
              <a:rPr sz="4800" b="1" spc="-25" dirty="0">
                <a:solidFill>
                  <a:srgbClr val="0F243D"/>
                </a:solidFill>
                <a:latin typeface="Tahoma"/>
                <a:cs typeface="Tahoma"/>
              </a:rPr>
              <a:t>03</a:t>
            </a:r>
            <a:endParaRPr lang="en-IN" sz="4800" b="1" spc="-25" dirty="0">
              <a:solidFill>
                <a:srgbClr val="0F243D"/>
              </a:solidFill>
              <a:latin typeface="Tahoma"/>
              <a:cs typeface="Tahoma"/>
            </a:endParaRPr>
          </a:p>
          <a:p>
            <a:pPr marL="332740">
              <a:lnSpc>
                <a:spcPct val="100000"/>
              </a:lnSpc>
              <a:spcBef>
                <a:spcPts val="1935"/>
              </a:spcBef>
            </a:pPr>
            <a:r>
              <a:rPr lang="en-IN" sz="2250" b="1" spc="-25" dirty="0">
                <a:solidFill>
                  <a:srgbClr val="0F243D"/>
                </a:solidFill>
                <a:latin typeface="Tahoma"/>
                <a:cs typeface="Tahoma"/>
              </a:rPr>
              <a:t>IMPROVE</a:t>
            </a:r>
            <a:endParaRPr sz="225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r>
              <a:rPr lang="en-IN" sz="2400" dirty="0"/>
              <a:t>Query optimization</a:t>
            </a:r>
            <a:br>
              <a:rPr lang="en-IN" sz="2400" dirty="0"/>
            </a:br>
            <a:r>
              <a:rPr lang="en-IN" sz="2400" dirty="0"/>
              <a:t>Data accuracy</a:t>
            </a:r>
            <a:br>
              <a:rPr lang="en-IN" sz="2400" dirty="0"/>
            </a:br>
            <a:r>
              <a:rPr lang="en-IN" sz="2400" dirty="0"/>
              <a:t>Efficient organization</a:t>
            </a:r>
            <a:br>
              <a:rPr lang="en-IN" sz="2400" dirty="0"/>
            </a:br>
            <a:r>
              <a:rPr lang="en-IN" sz="2400" dirty="0"/>
              <a:t>Problem-solving</a:t>
            </a:r>
            <a:endParaRPr sz="22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800" y="560705"/>
            <a:ext cx="20993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769DF"/>
                </a:solidFill>
                <a:latin typeface="Arial Black"/>
                <a:cs typeface="Arial Black"/>
              </a:rPr>
              <a:t>INTERNSHIP</a:t>
            </a:r>
            <a:r>
              <a:rPr sz="1350" spc="375" dirty="0">
                <a:solidFill>
                  <a:srgbClr val="1769DF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1769DF"/>
                </a:solidFill>
                <a:latin typeface="Arial Black"/>
                <a:cs typeface="Arial Black"/>
              </a:rPr>
              <a:t>REPORT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chemeClr val="tx1"/>
                </a:solidFill>
              </a:rPr>
              <a:t>One role. Multiple responsibilities.</a:t>
            </a:r>
            <a:endParaRPr spc="10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1752600"/>
            <a:ext cx="723900" cy="47625"/>
          </a:xfrm>
          <a:custGeom>
            <a:avLst/>
            <a:gdLst/>
            <a:ahLst/>
            <a:cxnLst/>
            <a:rect l="l" t="t" r="r" b="b"/>
            <a:pathLst>
              <a:path w="723900" h="47625">
                <a:moveTo>
                  <a:pt x="723862" y="47624"/>
                </a:moveTo>
                <a:lnTo>
                  <a:pt x="0" y="47624"/>
                </a:lnTo>
                <a:lnTo>
                  <a:pt x="0" y="0"/>
                </a:lnTo>
                <a:lnTo>
                  <a:pt x="723862" y="0"/>
                </a:lnTo>
                <a:lnTo>
                  <a:pt x="723862" y="47624"/>
                </a:lnTo>
                <a:close/>
              </a:path>
            </a:pathLst>
          </a:custGeom>
          <a:solidFill>
            <a:srgbClr val="176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9625" y="3143249"/>
            <a:ext cx="2286000" cy="838200"/>
          </a:xfrm>
          <a:custGeom>
            <a:avLst/>
            <a:gdLst/>
            <a:ahLst/>
            <a:cxnLst/>
            <a:rect l="l" t="t" r="r" b="b"/>
            <a:pathLst>
              <a:path w="2286000" h="838200">
                <a:moveTo>
                  <a:pt x="2152650" y="838200"/>
                </a:moveTo>
                <a:lnTo>
                  <a:pt x="133350" y="838200"/>
                </a:lnTo>
                <a:lnTo>
                  <a:pt x="91201" y="831401"/>
                </a:lnTo>
                <a:lnTo>
                  <a:pt x="54595" y="812471"/>
                </a:lnTo>
                <a:lnTo>
                  <a:pt x="25728" y="783604"/>
                </a:lnTo>
                <a:lnTo>
                  <a:pt x="6798" y="746999"/>
                </a:lnTo>
                <a:lnTo>
                  <a:pt x="0" y="704850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152650" y="0"/>
                </a:lnTo>
                <a:lnTo>
                  <a:pt x="2194798" y="6798"/>
                </a:lnTo>
                <a:lnTo>
                  <a:pt x="2231404" y="25728"/>
                </a:lnTo>
                <a:lnTo>
                  <a:pt x="2260271" y="54595"/>
                </a:lnTo>
                <a:lnTo>
                  <a:pt x="2279201" y="91201"/>
                </a:lnTo>
                <a:lnTo>
                  <a:pt x="2285404" y="129659"/>
                </a:lnTo>
                <a:lnTo>
                  <a:pt x="2285404" y="708540"/>
                </a:lnTo>
                <a:lnTo>
                  <a:pt x="2279201" y="746999"/>
                </a:lnTo>
                <a:lnTo>
                  <a:pt x="2260271" y="783604"/>
                </a:lnTo>
                <a:lnTo>
                  <a:pt x="2231404" y="812471"/>
                </a:lnTo>
                <a:lnTo>
                  <a:pt x="2194798" y="831401"/>
                </a:lnTo>
                <a:lnTo>
                  <a:pt x="2152650" y="838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097125" y="3143249"/>
            <a:ext cx="3048000" cy="838200"/>
          </a:xfrm>
          <a:custGeom>
            <a:avLst/>
            <a:gdLst/>
            <a:ahLst/>
            <a:cxnLst/>
            <a:rect l="l" t="t" r="r" b="b"/>
            <a:pathLst>
              <a:path w="3048000" h="838200">
                <a:moveTo>
                  <a:pt x="2914650" y="838200"/>
                </a:moveTo>
                <a:lnTo>
                  <a:pt x="133350" y="838200"/>
                </a:lnTo>
                <a:lnTo>
                  <a:pt x="91200" y="831401"/>
                </a:lnTo>
                <a:lnTo>
                  <a:pt x="54595" y="812471"/>
                </a:lnTo>
                <a:lnTo>
                  <a:pt x="25728" y="783604"/>
                </a:lnTo>
                <a:lnTo>
                  <a:pt x="6798" y="746998"/>
                </a:lnTo>
                <a:lnTo>
                  <a:pt x="0" y="704850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0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4" y="25728"/>
                </a:lnTo>
                <a:lnTo>
                  <a:pt x="3022271" y="54595"/>
                </a:lnTo>
                <a:lnTo>
                  <a:pt x="3041201" y="91201"/>
                </a:lnTo>
                <a:lnTo>
                  <a:pt x="3048000" y="133350"/>
                </a:lnTo>
                <a:lnTo>
                  <a:pt x="3048000" y="704850"/>
                </a:lnTo>
                <a:lnTo>
                  <a:pt x="3041201" y="746998"/>
                </a:lnTo>
                <a:lnTo>
                  <a:pt x="3022271" y="783604"/>
                </a:lnTo>
                <a:lnTo>
                  <a:pt x="2993404" y="812471"/>
                </a:lnTo>
                <a:lnTo>
                  <a:pt x="2956799" y="831401"/>
                </a:lnTo>
                <a:lnTo>
                  <a:pt x="2914650" y="838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9625" y="6191249"/>
            <a:ext cx="2286000" cy="838200"/>
          </a:xfrm>
          <a:custGeom>
            <a:avLst/>
            <a:gdLst/>
            <a:ahLst/>
            <a:cxnLst/>
            <a:rect l="l" t="t" r="r" b="b"/>
            <a:pathLst>
              <a:path w="2286000" h="838200">
                <a:moveTo>
                  <a:pt x="2152650" y="838200"/>
                </a:moveTo>
                <a:lnTo>
                  <a:pt x="133350" y="838200"/>
                </a:lnTo>
                <a:lnTo>
                  <a:pt x="91201" y="831401"/>
                </a:lnTo>
                <a:lnTo>
                  <a:pt x="54595" y="812471"/>
                </a:lnTo>
                <a:lnTo>
                  <a:pt x="25728" y="783604"/>
                </a:lnTo>
                <a:lnTo>
                  <a:pt x="6798" y="746998"/>
                </a:lnTo>
                <a:lnTo>
                  <a:pt x="0" y="704850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152650" y="0"/>
                </a:lnTo>
                <a:lnTo>
                  <a:pt x="2194798" y="6798"/>
                </a:lnTo>
                <a:lnTo>
                  <a:pt x="2231404" y="25728"/>
                </a:lnTo>
                <a:lnTo>
                  <a:pt x="2260271" y="54595"/>
                </a:lnTo>
                <a:lnTo>
                  <a:pt x="2279201" y="91201"/>
                </a:lnTo>
                <a:lnTo>
                  <a:pt x="2285404" y="129659"/>
                </a:lnTo>
                <a:lnTo>
                  <a:pt x="2285404" y="708540"/>
                </a:lnTo>
                <a:lnTo>
                  <a:pt x="2279201" y="746998"/>
                </a:lnTo>
                <a:lnTo>
                  <a:pt x="2260271" y="783604"/>
                </a:lnTo>
                <a:lnTo>
                  <a:pt x="2231404" y="812471"/>
                </a:lnTo>
                <a:lnTo>
                  <a:pt x="2194798" y="831401"/>
                </a:lnTo>
                <a:lnTo>
                  <a:pt x="2152650" y="838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097125" y="6191250"/>
            <a:ext cx="3048000" cy="838200"/>
          </a:xfrm>
          <a:custGeom>
            <a:avLst/>
            <a:gdLst/>
            <a:ahLst/>
            <a:cxnLst/>
            <a:rect l="l" t="t" r="r" b="b"/>
            <a:pathLst>
              <a:path w="3048000" h="838200">
                <a:moveTo>
                  <a:pt x="2914650" y="838200"/>
                </a:moveTo>
                <a:lnTo>
                  <a:pt x="133350" y="838200"/>
                </a:lnTo>
                <a:lnTo>
                  <a:pt x="91200" y="831401"/>
                </a:lnTo>
                <a:lnTo>
                  <a:pt x="54595" y="812471"/>
                </a:lnTo>
                <a:lnTo>
                  <a:pt x="25728" y="783604"/>
                </a:lnTo>
                <a:lnTo>
                  <a:pt x="6798" y="746998"/>
                </a:lnTo>
                <a:lnTo>
                  <a:pt x="0" y="704850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0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4" y="25728"/>
                </a:lnTo>
                <a:lnTo>
                  <a:pt x="3022271" y="54595"/>
                </a:lnTo>
                <a:lnTo>
                  <a:pt x="3041201" y="91201"/>
                </a:lnTo>
                <a:lnTo>
                  <a:pt x="3048000" y="133350"/>
                </a:lnTo>
                <a:lnTo>
                  <a:pt x="3048000" y="704850"/>
                </a:lnTo>
                <a:lnTo>
                  <a:pt x="3041201" y="746998"/>
                </a:lnTo>
                <a:lnTo>
                  <a:pt x="3022271" y="783604"/>
                </a:lnTo>
                <a:lnTo>
                  <a:pt x="2993404" y="812471"/>
                </a:lnTo>
                <a:lnTo>
                  <a:pt x="2956799" y="831401"/>
                </a:lnTo>
                <a:lnTo>
                  <a:pt x="2914650" y="838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b="1" dirty="0"/>
              <a:t>ACAPELLA PRODUCTIONS</a:t>
            </a:r>
            <a:r>
              <a:rPr spc="225" dirty="0"/>
              <a:t> 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0B25D0-6D50-42AA-502B-35CBD8DEAEBF}"/>
              </a:ext>
            </a:extLst>
          </p:cNvPr>
          <p:cNvSpPr txBox="1"/>
          <p:nvPr/>
        </p:nvSpPr>
        <p:spPr>
          <a:xfrm>
            <a:off x="1135626" y="2492476"/>
            <a:ext cx="115897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RECORD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Assisted in managing database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QUERY OPTIMIZATION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Assisted in improving the efficiency of database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DATA ORGANIZATION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Helped organize and structure data effectively.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PROBLEM SOLVING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Applied logical thinking to database-related tasks.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4940" y="3411346"/>
            <a:ext cx="653859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spc="300" dirty="0"/>
              <a:t>THANK</a:t>
            </a:r>
            <a:r>
              <a:rPr sz="8100" spc="-80" dirty="0"/>
              <a:t> </a:t>
            </a:r>
            <a:r>
              <a:rPr sz="8100" spc="280" dirty="0"/>
              <a:t>YOU</a:t>
            </a:r>
            <a:endParaRPr sz="81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939800" y="9680877"/>
            <a:ext cx="3191510" cy="3924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IN" b="1" dirty="0"/>
              <a:t>ACAPELLA PRODUCTIONS</a:t>
            </a:r>
            <a:r>
              <a:rPr spc="225" dirty="0"/>
              <a:t> </a:t>
            </a:r>
            <a:r>
              <a:rPr spc="-315" dirty="0"/>
              <a:t>•</a:t>
            </a:r>
            <a:r>
              <a:rPr spc="225" dirty="0"/>
              <a:t> </a:t>
            </a:r>
            <a:r>
              <a:rPr spc="-40" dirty="0"/>
              <a:t>TECHNICAL</a:t>
            </a:r>
            <a:r>
              <a:rPr spc="-70" dirty="0"/>
              <a:t> </a:t>
            </a:r>
            <a:r>
              <a:rPr spc="-10" dirty="0"/>
              <a:t>INTERNSHIP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4400" y="5076360"/>
            <a:ext cx="6330811" cy="876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1465" algn="r">
              <a:lnSpc>
                <a:spcPct val="110300"/>
              </a:lnSpc>
              <a:spcBef>
                <a:spcPts val="100"/>
              </a:spcBef>
            </a:pPr>
            <a:r>
              <a:rPr sz="2550" b="1" spc="-45" dirty="0">
                <a:solidFill>
                  <a:schemeClr val="tx1"/>
                </a:solidFill>
                <a:latin typeface="Lucida Sans Unicode"/>
                <a:cs typeface="Lucida Sans Unicode"/>
              </a:rPr>
              <a:t>Questions</a:t>
            </a:r>
            <a:r>
              <a:rPr sz="2550" b="1" spc="-13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550" b="1" spc="70" dirty="0">
                <a:solidFill>
                  <a:schemeClr val="tx1"/>
                </a:solidFill>
                <a:latin typeface="Lucida Sans Unicode"/>
                <a:cs typeface="Lucida Sans Unicode"/>
              </a:rPr>
              <a:t>&amp;</a:t>
            </a:r>
            <a:r>
              <a:rPr sz="2550" b="1" spc="-13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550" b="1" spc="-10" dirty="0">
                <a:solidFill>
                  <a:schemeClr val="tx1"/>
                </a:solidFill>
                <a:latin typeface="Lucida Sans Unicode"/>
                <a:cs typeface="Lucida Sans Unicode"/>
              </a:rPr>
              <a:t>Answers </a:t>
            </a:r>
            <a:r>
              <a:rPr sz="2550" b="1" spc="-55" dirty="0">
                <a:solidFill>
                  <a:schemeClr val="tx1"/>
                </a:solidFill>
                <a:latin typeface="Lucida Sans Unicode"/>
                <a:cs typeface="Lucida Sans Unicode"/>
              </a:rPr>
              <a:t>@</a:t>
            </a:r>
            <a:r>
              <a:rPr lang="en-IN" sz="2550" b="1" spc="-55" dirty="0">
                <a:solidFill>
                  <a:schemeClr val="tx1"/>
                </a:solidFill>
                <a:latin typeface="Lucida Sans Unicode"/>
                <a:cs typeface="Lucida Sans Unicode"/>
              </a:rPr>
              <a:t>yashi.25scs1003004069@iilm.edu</a:t>
            </a:r>
            <a:endParaRPr sz="2550" b="1" dirty="0">
              <a:solidFill>
                <a:schemeClr val="tx1"/>
              </a:solidFill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4509" y="7405369"/>
            <a:ext cx="189928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50" spc="80" dirty="0">
                <a:solidFill>
                  <a:srgbClr val="38B8FF"/>
                </a:solidFill>
                <a:latin typeface="Arial Black"/>
                <a:cs typeface="Arial Black"/>
              </a:rPr>
              <a:t>Yashi Jaiswal</a:t>
            </a:r>
            <a:endParaRPr sz="165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2355" y="7405369"/>
            <a:ext cx="53809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100"/>
              </a:spcBef>
              <a:buChar char="•"/>
              <a:tabLst>
                <a:tab pos="275590" algn="l"/>
              </a:tabLst>
            </a:pPr>
            <a:r>
              <a:rPr lang="en-US" sz="1600" dirty="0"/>
              <a:t>MANAGING DATABASE RECORDS</a:t>
            </a:r>
            <a:endParaRPr sz="16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290</Words>
  <Application>Microsoft Office PowerPoint</Application>
  <PresentationFormat>Custom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Lucida Sans Unicode</vt:lpstr>
      <vt:lpstr>Tahoma</vt:lpstr>
      <vt:lpstr>Office Theme</vt:lpstr>
      <vt:lpstr>IILM University, Greater Noida MANAGING DATABASE RECORDS</vt:lpstr>
      <vt:lpstr>Acapella Productions A professional internship experience in database management </vt:lpstr>
      <vt:lpstr>Internship at a glance</vt:lpstr>
      <vt:lpstr>Five objectives. One practical experience.</vt:lpstr>
      <vt:lpstr>Three months: learn, build, refine</vt:lpstr>
      <vt:lpstr>One role. Multiple responsibilities.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 Internship Deck</dc:title>
  <dc:creator>Mayuri Gupta</dc:creator>
  <cp:keywords>DAHUZyvWVbM,BAGYOh6vmwI</cp:keywords>
  <cp:lastModifiedBy>Yashi Jaiswal</cp:lastModifiedBy>
  <cp:revision>1</cp:revision>
  <dcterms:created xsi:type="dcterms:W3CDTF">2026-09-10T16:56:23Z</dcterms:created>
  <dcterms:modified xsi:type="dcterms:W3CDTF">2026-09-10T17:36:37Z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2026-09-10T00:00:00Z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